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292608" cy="67116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05156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TRABAJO FINAL  ·  TECNICATURA UNIVERSITARIA EN PROGRAMACIÓN — UTN FRM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600200"/>
            <a:ext cx="1050919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200" b="1">
                <a:solidFill>
                  <a:srgbClr val="0F172A"/>
                </a:solidFill>
                <a:latin typeface="Calibri"/>
              </a:rPr>
              <a:t>Automatización de un sistema de tickets
para freelancers con </a:t>
            </a:r>
            <a:r>
              <a:rPr sz="4200" b="1">
                <a:solidFill>
                  <a:srgbClr val="E11D48"/>
                </a:solidFill>
                <a:latin typeface="Calibri"/>
              </a:rPr>
              <a:t>n8n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310128"/>
            <a:ext cx="219456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520440"/>
            <a:ext cx="95947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>
                <a:solidFill>
                  <a:srgbClr val="475569"/>
                </a:solidFill>
                <a:latin typeface="Calibri"/>
              </a:rPr>
              <a:t>Diseño e implementación de una plataforma web para la gestión automatizada del ciclo de vida del cliente.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709160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AUTORES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Calibri"/>
              </a:rPr>
              <a:t>Mateo Morgui   ·   Tobías Rivas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4709160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DIRECTOR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Calibri"/>
              </a:rPr>
              <a:t>Alberto Cortez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4709160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REPOSITORIO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Calibri"/>
              </a:rPr>
              <a:t>github.com/Boit-6/Tesis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17220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Defensa de Trabajo Final  ·  Duración 10:00  ·  Mateo 5:00 / Tobías 5:00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1248" y="566928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25296" y="548640"/>
            <a:ext cx="101251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01 · PROBLEMA Y MOTIVACIÓN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3268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El ciclo comercial del freelance se gestiona a mano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27048"/>
            <a:ext cx="11430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65960"/>
            <a:ext cx="6309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13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 b="1">
                <a:solidFill>
                  <a:srgbClr val="0F172A"/>
                </a:solidFill>
                <a:latin typeface="Calibri"/>
              </a:rPr>
              <a:t>Gestión manual y fragmentada</a:t>
            </a:r>
            <a:r>
              <a:rPr sz="1600" b="0">
                <a:solidFill>
                  <a:srgbClr val="475569"/>
                </a:solidFill>
                <a:latin typeface="Calibri"/>
              </a:rPr>
              <a:t> del ciclo comercial de punta a punta.</a:t>
            </a:r>
          </a:p>
          <a:p>
            <a:pPr algn="l">
              <a:lnSpc>
                <a:spcPct val="103000"/>
              </a:lnSpc>
              <a:spcAft>
                <a:spcPts val="13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 b="1">
                <a:solidFill>
                  <a:srgbClr val="0F172A"/>
                </a:solidFill>
                <a:latin typeface="Calibri"/>
              </a:rPr>
              <a:t>Consultas dispersas, </a:t>
            </a:r>
            <a:r>
              <a:rPr sz="1600" b="0">
                <a:solidFill>
                  <a:srgbClr val="475569"/>
                </a:solidFill>
                <a:latin typeface="Calibri"/>
              </a:rPr>
              <a:t>propuestas escritas a mano, seguimiento de memoria y cobros perseguidos por chat.</a:t>
            </a:r>
          </a:p>
          <a:p>
            <a:pPr algn="l">
              <a:lnSpc>
                <a:spcPct val="103000"/>
              </a:lnSpc>
              <a:spcAft>
                <a:spcPts val="13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 b="1">
                <a:solidFill>
                  <a:srgbClr val="0F172A"/>
                </a:solidFill>
                <a:latin typeface="Calibri"/>
              </a:rPr>
              <a:t>Consecuencia: </a:t>
            </a:r>
            <a:r>
              <a:rPr sz="1600" b="0">
                <a:solidFill>
                  <a:srgbClr val="475569"/>
                </a:solidFill>
                <a:latin typeface="Calibri"/>
              </a:rPr>
              <a:t>se pierden leads, se pierde tiempo y se proyecta poca profesionalidad.</a:t>
            </a:r>
          </a:p>
          <a:p>
            <a:pPr algn="l">
              <a:lnSpc>
                <a:spcPct val="103000"/>
              </a:lnSpc>
              <a:spcAft>
                <a:spcPts val="13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 b="1">
                <a:solidFill>
                  <a:srgbClr val="0F172A"/>
                </a:solidFill>
                <a:latin typeface="Calibri"/>
              </a:rPr>
              <a:t>Un mercado que crece: </a:t>
            </a:r>
            <a:r>
              <a:rPr sz="1600" b="0">
                <a:solidFill>
                  <a:srgbClr val="475569"/>
                </a:solidFill>
                <a:latin typeface="Calibri"/>
              </a:rPr>
              <a:t>el trabajo freelance aumentó ~21 % (Kässi &amp; Lehdonvirta, 2018; OIT, 2025).</a:t>
            </a:r>
          </a:p>
          <a:p>
            <a:pPr algn="l">
              <a:lnSpc>
                <a:spcPct val="103000"/>
              </a:lnSpc>
              <a:spcAft>
                <a:spcPts val="13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 b="1">
                <a:solidFill>
                  <a:srgbClr val="0F172A"/>
                </a:solidFill>
                <a:latin typeface="Calibri"/>
              </a:rPr>
              <a:t>Las soluciones del mercado </a:t>
            </a:r>
            <a:r>
              <a:rPr sz="1600" b="0">
                <a:solidFill>
                  <a:srgbClr val="475569"/>
                </a:solidFill>
                <a:latin typeface="Calibri"/>
              </a:rPr>
              <a:t>son caras, cerradas y sin propiedad total del dato.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2148840"/>
            <a:ext cx="3840480" cy="31089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2148840"/>
            <a:ext cx="91440" cy="3108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468880"/>
            <a:ext cx="3291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EL PARA QUÉ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Calibri"/>
              </a:rPr>
              <a:t>Darle al freelance un pipeline que automatice de extremo a extremo su ciclo comercial: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Calibri"/>
              </a:rPr>
              <a:t>del lead que entra
hasta el cobro y el cierre.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6327648"/>
            <a:ext cx="10509199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6419088"/>
            <a:ext cx="52545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PROBLEMA Y MOTIVACIÓN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4927" y="6419088"/>
            <a:ext cx="6305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4F46E5"/>
                </a:solidFill>
                <a:latin typeface="Calibri"/>
              </a:rPr>
              <a:t>●  </a:t>
            </a:r>
            <a:r>
              <a:rPr sz="950" b="1">
                <a:solidFill>
                  <a:srgbClr val="0F172A"/>
                </a:solidFill>
                <a:latin typeface="Calibri"/>
              </a:rPr>
              <a:t>Mateo Morgui   ·   </a:t>
            </a:r>
            <a:r>
              <a:rPr sz="950" b="0">
                <a:solidFill>
                  <a:srgbClr val="475569"/>
                </a:solidFill>
                <a:latin typeface="Calibri"/>
              </a:rPr>
              <a:t>0:45–2:00   ·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1248" y="566928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25296" y="548640"/>
            <a:ext cx="101251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059669"/>
                </a:solidFill>
                <a:latin typeface="Calibri"/>
              </a:rPr>
              <a:t>02 · PREGUNTA DE INVESTIGACIÓN Y OBJETIVOS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3268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Qué nos propusimos demostrar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27048"/>
            <a:ext cx="1143000" cy="457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874519"/>
            <a:ext cx="10509199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874519"/>
            <a:ext cx="91440" cy="10515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1874519"/>
            <a:ext cx="986911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1">
                <a:solidFill>
                  <a:srgbClr val="059669"/>
                </a:solidFill>
                <a:latin typeface="Calibri"/>
              </a:rPr>
              <a:t>Pregunta central   </a:t>
            </a:r>
            <a:r>
              <a:rPr sz="1800" b="1">
                <a:solidFill>
                  <a:srgbClr val="0F172A"/>
                </a:solidFill>
                <a:latin typeface="Calibri"/>
              </a:rPr>
              <a:t>¿Se puede automatizar de extremo a extremo el ciclo comercial de un freelancer con una arquitectura orientada a eventos y de bajo código?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20040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OBJETIVO GENERAL   </a:t>
            </a:r>
            <a:r>
              <a:rPr sz="1450" b="0">
                <a:solidFill>
                  <a:srgbClr val="475569"/>
                </a:solidFill>
                <a:latin typeface="Calibri"/>
              </a:rPr>
              <a:t>diseñar e implementar una plataforma web que automatice ese ciclo completo.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611880"/>
            <a:ext cx="10509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CINCO OBJETIVOS ESPECÍFICOS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4069080"/>
            <a:ext cx="310896" cy="31089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0599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050792"/>
            <a:ext cx="100519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Calibri"/>
              </a:rPr>
              <a:t>Captar y calificar  </a:t>
            </a:r>
            <a:r>
              <a:rPr sz="1550" b="0">
                <a:solidFill>
                  <a:srgbClr val="475569"/>
                </a:solidFill>
                <a:latin typeface="Calibri"/>
              </a:rPr>
              <a:t>leads automáticamente (scoring).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4498848"/>
            <a:ext cx="310896" cy="31089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4897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480560"/>
            <a:ext cx="100519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Calibri"/>
              </a:rPr>
              <a:t>Proponer y aceptar  </a:t>
            </a:r>
            <a:r>
              <a:rPr sz="1550" b="0">
                <a:solidFill>
                  <a:srgbClr val="475569"/>
                </a:solidFill>
                <a:latin typeface="Calibri"/>
              </a:rPr>
              <a:t>de forma segura: aceptar / rechazar / pedir cambios.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928616"/>
            <a:ext cx="310896" cy="31089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9194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910328"/>
            <a:ext cx="100519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Calibri"/>
              </a:rPr>
              <a:t>Facturar y cobrar  </a:t>
            </a:r>
            <a:r>
              <a:rPr sz="1550" b="0">
                <a:solidFill>
                  <a:srgbClr val="475569"/>
                </a:solidFill>
                <a:latin typeface="Calibri"/>
              </a:rPr>
              <a:t>automáticamente (factura PDF + pago).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" y="5358383"/>
            <a:ext cx="310896" cy="31089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3492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5340096"/>
            <a:ext cx="100519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Calibri"/>
              </a:rPr>
              <a:t>Centralizar el dato  </a:t>
            </a:r>
            <a:r>
              <a:rPr sz="1550" b="0">
                <a:solidFill>
                  <a:srgbClr val="475569"/>
                </a:solidFill>
                <a:latin typeface="Calibri"/>
              </a:rPr>
              <a:t>única fuente de verdad, seguridad por rol y tablero en vivo.</a:t>
            </a:r>
          </a:p>
        </p:txBody>
      </p:sp>
      <p:sp>
        <p:nvSpPr>
          <p:cNvPr id="25" name="Oval 24"/>
          <p:cNvSpPr/>
          <p:nvPr/>
        </p:nvSpPr>
        <p:spPr>
          <a:xfrm>
            <a:off x="841248" y="5788151"/>
            <a:ext cx="310896" cy="31089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79007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5769864"/>
            <a:ext cx="1005199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Calibri"/>
              </a:rPr>
              <a:t>Validar  </a:t>
            </a:r>
            <a:r>
              <a:rPr sz="1550" b="0">
                <a:solidFill>
                  <a:srgbClr val="475569"/>
                </a:solidFill>
                <a:latin typeface="Calibri"/>
              </a:rPr>
              <a:t>el sistema con escenarios controlados.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" y="6327648"/>
            <a:ext cx="10509199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6419088"/>
            <a:ext cx="52545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PREGUNTA E OBJETIVOS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4927" y="6419088"/>
            <a:ext cx="6305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059669"/>
                </a:solidFill>
                <a:latin typeface="Calibri"/>
              </a:rPr>
              <a:t>●  </a:t>
            </a:r>
            <a:r>
              <a:rPr sz="950" b="1">
                <a:solidFill>
                  <a:srgbClr val="0F172A"/>
                </a:solidFill>
                <a:latin typeface="Calibri"/>
              </a:rPr>
              <a:t>Tobías Rivas   ·   </a:t>
            </a:r>
            <a:r>
              <a:rPr sz="950" b="0">
                <a:solidFill>
                  <a:srgbClr val="475569"/>
                </a:solidFill>
                <a:latin typeface="Calibri"/>
              </a:rPr>
              <a:t>2:00–3:00   ·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1248" y="566928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25296" y="548640"/>
            <a:ext cx="101251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03 · MARCO TEÓRICO Y ANTECEDENTES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3268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Dónde se apoya y qué aporta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27048"/>
            <a:ext cx="11430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965960"/>
            <a:ext cx="2421559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121408"/>
            <a:ext cx="201922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Automatización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de procesos de negocio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37127" y="1965960"/>
            <a:ext cx="2421559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8295" y="2121408"/>
            <a:ext cx="201922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Arquitectura de eventos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webhooks como disparadores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965960"/>
            <a:ext cx="2421559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4175" y="2121408"/>
            <a:ext cx="201922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Bajo código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n8n como orquestador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28887" y="1965960"/>
            <a:ext cx="2421559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0055" y="2121408"/>
            <a:ext cx="201922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CRM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ciclo de vida del cliente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337560"/>
            <a:ext cx="10509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ANTECEDENTES QUE SOSTIENEN EL ENFOQUE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657600"/>
            <a:ext cx="1050919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Järvinen &amp; Taiminen (2016)</a:t>
            </a:r>
            <a:r>
              <a:rPr sz="1500" b="0">
                <a:solidFill>
                  <a:srgbClr val="94A3B8"/>
                </a:solidFill>
                <a:latin typeface="Calibri"/>
              </a:rPr>
              <a:t>   ·   </a:t>
            </a:r>
            <a:r>
              <a:rPr sz="1500" b="1">
                <a:solidFill>
                  <a:srgbClr val="0F172A"/>
                </a:solidFill>
                <a:latin typeface="Calibri"/>
              </a:rPr>
              <a:t>Kässi &amp; Lehdonvirta (2018)</a:t>
            </a:r>
            <a:r>
              <a:rPr sz="1500" b="0">
                <a:solidFill>
                  <a:srgbClr val="94A3B8"/>
                </a:solidFill>
                <a:latin typeface="Calibri"/>
              </a:rPr>
              <a:t>   ·   </a:t>
            </a:r>
            <a:r>
              <a:rPr sz="1500" b="1">
                <a:solidFill>
                  <a:srgbClr val="0F172A"/>
                </a:solidFill>
                <a:latin typeface="Calibri"/>
              </a:rPr>
              <a:t>Mero et al. (2020)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297680"/>
            <a:ext cx="10509199" cy="14173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" y="4297680"/>
            <a:ext cx="91440" cy="14173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4480560"/>
            <a:ext cx="986911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200" b="1">
                <a:solidFill>
                  <a:srgbClr val="4F46E5"/>
                </a:solidFill>
                <a:latin typeface="Calibri"/>
              </a:rPr>
              <a:t>EL VACÍO QUE LLENAMOS  ·  NUESTRO APORTE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50" b="0">
                <a:solidFill>
                  <a:srgbClr val="475569"/>
                </a:solidFill>
                <a:latin typeface="Calibri"/>
              </a:rPr>
              <a:t>Frente a HubSpot, Pipedrive, Zapier o Make (costo recurrente, sin propiedad del dato): un pipeline </a:t>
            </a:r>
            <a:r>
              <a:rPr sz="1550" b="1">
                <a:solidFill>
                  <a:srgbClr val="0F172A"/>
                </a:solidFill>
                <a:latin typeface="Calibri"/>
              </a:rPr>
              <a:t>auto-alojable, de bajo costo y con propiedad total del dato.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50" b="0">
                <a:solidFill>
                  <a:srgbClr val="475569"/>
                </a:solidFill>
                <a:latin typeface="Calibri"/>
              </a:rPr>
              <a:t>En una frase:  </a:t>
            </a:r>
            <a:r>
              <a:rPr sz="1550" b="1">
                <a:solidFill>
                  <a:srgbClr val="4F46E5"/>
                </a:solidFill>
                <a:latin typeface="Calibri"/>
              </a:rPr>
              <a:t>construir</a:t>
            </a:r>
            <a:r>
              <a:rPr sz="1550" b="0">
                <a:solidFill>
                  <a:srgbClr val="475569"/>
                </a:solidFill>
                <a:latin typeface="Calibri"/>
              </a:rPr>
              <a:t> en lugar de solo </a:t>
            </a:r>
            <a:r>
              <a:rPr sz="1550" b="1">
                <a:solidFill>
                  <a:srgbClr val="4F46E5"/>
                </a:solidFill>
                <a:latin typeface="Calibri"/>
              </a:rPr>
              <a:t>configurar.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6327648"/>
            <a:ext cx="10509199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6419088"/>
            <a:ext cx="52545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MARCO TEÓRICO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4927" y="6419088"/>
            <a:ext cx="6305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4F46E5"/>
                </a:solidFill>
                <a:latin typeface="Calibri"/>
              </a:rPr>
              <a:t>●  </a:t>
            </a:r>
            <a:r>
              <a:rPr sz="950" b="1">
                <a:solidFill>
                  <a:srgbClr val="0F172A"/>
                </a:solidFill>
                <a:latin typeface="Calibri"/>
              </a:rPr>
              <a:t>Mateo Morgui   ·   </a:t>
            </a:r>
            <a:r>
              <a:rPr sz="950" b="0">
                <a:solidFill>
                  <a:srgbClr val="475569"/>
                </a:solidFill>
                <a:latin typeface="Calibri"/>
              </a:rPr>
              <a:t>3:00–4:30   ·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1248" y="566928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25296" y="548640"/>
            <a:ext cx="101251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059669"/>
                </a:solidFill>
                <a:latin typeface="Calibri"/>
              </a:rPr>
              <a:t>04 · METODOLOGÍA Y 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3268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Tres capas desacopladas, orientadas a eventos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27048"/>
            <a:ext cx="1143000" cy="457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ENFOQUE   </a:t>
            </a:r>
            <a:r>
              <a:rPr sz="1400" b="0">
                <a:solidFill>
                  <a:srgbClr val="475569"/>
                </a:solidFill>
                <a:latin typeface="Calibri"/>
              </a:rPr>
              <a:t>desarrollo tecnológico aplicado (artefacto de software) · iterativo-incremental · RF + RNF con ISO/IEC 25010.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423160"/>
            <a:ext cx="3247034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2423160"/>
            <a:ext cx="3247034" cy="566928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2706624"/>
            <a:ext cx="3247034" cy="2834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423160"/>
            <a:ext cx="324703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PRESENTACIÓN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154680"/>
            <a:ext cx="278983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550" b="1">
                <a:solidFill>
                  <a:srgbClr val="4F46E5"/>
                </a:solidFill>
                <a:latin typeface="Calibri"/>
              </a:rPr>
              <a:t>Next.js + Vercel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</a:t>
            </a:r>
            <a:r>
              <a:rPr sz="1300" b="0">
                <a:solidFill>
                  <a:srgbClr val="475569"/>
                </a:solidFill>
                <a:latin typeface="Calibri"/>
              </a:rPr>
              <a:t>Formulario de leads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</a:t>
            </a:r>
            <a:r>
              <a:rPr sz="1300" b="0">
                <a:solidFill>
                  <a:srgbClr val="475569"/>
                </a:solidFill>
                <a:latin typeface="Calibri"/>
              </a:rPr>
              <a:t>Página de aceptación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</a:t>
            </a:r>
            <a:r>
              <a:rPr sz="1300" b="0">
                <a:solidFill>
                  <a:srgbClr val="475569"/>
                </a:solidFill>
                <a:latin typeface="Calibri"/>
              </a:rPr>
              <a:t>Tablero interno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2330" y="2423160"/>
            <a:ext cx="3247034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72330" y="2423160"/>
            <a:ext cx="3247034" cy="566928"/>
          </a:xfrm>
          <a:prstGeom prst="roundRect">
            <a:avLst>
              <a:gd name="adj" fmla="val 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72330" y="2706624"/>
            <a:ext cx="3247034" cy="28346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2330" y="2423160"/>
            <a:ext cx="324703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ORQUESTACIÓN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930" y="3154680"/>
            <a:ext cx="278983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550" b="1">
                <a:solidFill>
                  <a:srgbClr val="E11D48"/>
                </a:solidFill>
                <a:latin typeface="Calibri"/>
              </a:rPr>
              <a:t>n8n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E11D48"/>
                </a:solidFill>
                <a:latin typeface="Calibri"/>
              </a:rPr>
              <a:t>•  </a:t>
            </a:r>
            <a:r>
              <a:rPr sz="1300" b="0">
                <a:solidFill>
                  <a:srgbClr val="475569"/>
                </a:solidFill>
                <a:latin typeface="Calibri"/>
              </a:rPr>
              <a:t>11 webhooks · 3 procesos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E11D48"/>
                </a:solidFill>
                <a:latin typeface="Calibri"/>
              </a:rPr>
              <a:t>•  </a:t>
            </a:r>
            <a:r>
              <a:rPr sz="1300" b="0">
                <a:solidFill>
                  <a:srgbClr val="475569"/>
                </a:solidFill>
                <a:latin typeface="Calibri"/>
              </a:rPr>
              <a:t>128 nodos funcionales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E11D48"/>
                </a:solidFill>
                <a:latin typeface="Calibri"/>
              </a:rPr>
              <a:t>•  </a:t>
            </a:r>
            <a:r>
              <a:rPr sz="1300" b="0">
                <a:solidFill>
                  <a:srgbClr val="475569"/>
                </a:solidFill>
                <a:latin typeface="Calibri"/>
              </a:rPr>
              <a:t>Toda la lógica de negocio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3412" y="2423160"/>
            <a:ext cx="3247034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03412" y="2423160"/>
            <a:ext cx="3247034" cy="566928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3412" y="2706624"/>
            <a:ext cx="3247034" cy="2834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3412" y="2423160"/>
            <a:ext cx="324703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2012" y="3154680"/>
            <a:ext cx="278983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550" b="1">
                <a:solidFill>
                  <a:srgbClr val="059669"/>
                </a:solidFill>
                <a:latin typeface="Calibri"/>
              </a:rPr>
              <a:t>PostgreSQL / Supabase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•  </a:t>
            </a:r>
            <a:r>
              <a:rPr sz="1300" b="0">
                <a:solidFill>
                  <a:srgbClr val="475569"/>
                </a:solidFill>
                <a:latin typeface="Calibri"/>
              </a:rPr>
              <a:t>5 tablas · 2 vistas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•  </a:t>
            </a:r>
            <a:r>
              <a:rPr sz="1300" b="0">
                <a:solidFill>
                  <a:srgbClr val="475569"/>
                </a:solidFill>
                <a:latin typeface="Calibri"/>
              </a:rPr>
              <a:t>RLS por rol admin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•  </a:t>
            </a:r>
            <a:r>
              <a:rPr sz="1300" b="0">
                <a:solidFill>
                  <a:srgbClr val="475569"/>
                </a:solidFill>
                <a:latin typeface="Calibri"/>
              </a:rPr>
              <a:t>Única fuente de verdad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106570" y="3534156"/>
            <a:ext cx="347472" cy="29260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7737652" y="3534156"/>
            <a:ext cx="347472" cy="29260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2120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Calibri"/>
              </a:rPr>
              <a:t>El frontend nunca escribe la base directo: </a:t>
            </a:r>
            <a:r>
              <a:rPr sz="1350" b="0">
                <a:solidFill>
                  <a:srgbClr val="475569"/>
                </a:solidFill>
                <a:latin typeface="Calibri"/>
              </a:rPr>
              <a:t>habla con n8n por HTTP y n8n es el único que escribe. Así cada capa se cambia sin romper las otras.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6327648"/>
            <a:ext cx="10509199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6419088"/>
            <a:ext cx="52545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METODOLOGÍA · ARQUITECTURA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4927" y="6419088"/>
            <a:ext cx="6305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059669"/>
                </a:solidFill>
                <a:latin typeface="Calibri"/>
              </a:rPr>
              <a:t>●  </a:t>
            </a:r>
            <a:r>
              <a:rPr sz="950" b="1">
                <a:solidFill>
                  <a:srgbClr val="0F172A"/>
                </a:solidFill>
                <a:latin typeface="Calibri"/>
              </a:rPr>
              <a:t>Tobías Rivas   ·   </a:t>
            </a:r>
            <a:r>
              <a:rPr sz="950" b="0">
                <a:solidFill>
                  <a:srgbClr val="475569"/>
                </a:solidFill>
                <a:latin typeface="Calibri"/>
              </a:rPr>
              <a:t>4:30–5:40   · 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1248" y="566928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25296" y="548640"/>
            <a:ext cx="101251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05 · METODOLOGÍA · VALIDACIÓN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3268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Validación por escenarios controlados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27048"/>
            <a:ext cx="11430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11680"/>
            <a:ext cx="64008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15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 b="1">
                <a:solidFill>
                  <a:srgbClr val="0F172A"/>
                </a:solidFill>
                <a:latin typeface="Calibri"/>
              </a:rPr>
              <a:t>Diez escenarios (E1–E10) </a:t>
            </a:r>
            <a:r>
              <a:rPr sz="1600" b="0">
                <a:solidFill>
                  <a:srgbClr val="475569"/>
                </a:solidFill>
                <a:latin typeface="Calibri"/>
              </a:rPr>
              <a:t>que ejercitan el camino principal y los alternativos de cada flujo.</a:t>
            </a:r>
          </a:p>
          <a:p>
            <a:pPr algn="l">
              <a:lnSpc>
                <a:spcPct val="103000"/>
              </a:lnSpc>
              <a:spcAft>
                <a:spcPts val="15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 b="1">
                <a:solidFill>
                  <a:srgbClr val="0F172A"/>
                </a:solidFill>
                <a:latin typeface="Calibri"/>
              </a:rPr>
              <a:t>Cada escenario: </a:t>
            </a:r>
            <a:r>
              <a:rPr sz="1600" b="0">
                <a:solidFill>
                  <a:srgbClr val="475569"/>
                </a:solidFill>
                <a:latin typeface="Calibri"/>
              </a:rPr>
              <a:t>entrada definida → salida esperada.</a:t>
            </a:r>
          </a:p>
          <a:p>
            <a:pPr algn="l">
              <a:lnSpc>
                <a:spcPct val="103000"/>
              </a:lnSpc>
              <a:spcAft>
                <a:spcPts val="15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 b="1">
                <a:solidFill>
                  <a:srgbClr val="0F172A"/>
                </a:solidFill>
                <a:latin typeface="Calibri"/>
              </a:rPr>
              <a:t>Criterios objetivos: </a:t>
            </a:r>
            <a:r>
              <a:rPr sz="1600" b="0">
                <a:solidFill>
                  <a:srgbClr val="475569"/>
                </a:solidFill>
                <a:latin typeface="Calibri"/>
              </a:rPr>
              <a:t>normalización, score / tier, transiciones de estado en la base y tiempo real.</a:t>
            </a:r>
          </a:p>
          <a:p>
            <a:pPr algn="l">
              <a:lnSpc>
                <a:spcPct val="103000"/>
              </a:lnSpc>
              <a:spcAft>
                <a:spcPts val="15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 b="1">
                <a:solidFill>
                  <a:srgbClr val="0F172A"/>
                </a:solidFill>
                <a:latin typeface="Calibri"/>
              </a:rPr>
              <a:t>Prueba de humo automatizada </a:t>
            </a:r>
            <a:r>
              <a:rPr sz="1600" b="0">
                <a:solidFill>
                  <a:srgbClr val="475569"/>
                </a:solidFill>
                <a:latin typeface="Calibri"/>
              </a:rPr>
              <a:t>que ejecuta cada nodo de código con datos representativos.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194560"/>
            <a:ext cx="3703320" cy="28346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2194560"/>
            <a:ext cx="91440" cy="283464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487168"/>
            <a:ext cx="3200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ALCANCE HONESTO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650" b="1">
                <a:solidFill>
                  <a:srgbClr val="0F172A"/>
                </a:solidFill>
                <a:latin typeface="Calibri"/>
              </a:rPr>
              <a:t>La validación es de la construcción del artefacto.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50" b="0">
                <a:solidFill>
                  <a:srgbClr val="475569"/>
                </a:solidFill>
                <a:latin typeface="Calibri"/>
              </a:rPr>
              <a:t>No incluye un relevamiento primario con usuarios reales.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6327648"/>
            <a:ext cx="10509199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6419088"/>
            <a:ext cx="52545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METODOLOGÍA · VALIDACIÓN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4927" y="6419088"/>
            <a:ext cx="6305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4F46E5"/>
                </a:solidFill>
                <a:latin typeface="Calibri"/>
              </a:rPr>
              <a:t>●  </a:t>
            </a:r>
            <a:r>
              <a:rPr sz="950" b="1">
                <a:solidFill>
                  <a:srgbClr val="0F172A"/>
                </a:solidFill>
                <a:latin typeface="Calibri"/>
              </a:rPr>
              <a:t>Mateo Morgui   ·   </a:t>
            </a:r>
            <a:r>
              <a:rPr sz="950" b="0">
                <a:solidFill>
                  <a:srgbClr val="475569"/>
                </a:solidFill>
                <a:latin typeface="Calibri"/>
              </a:rPr>
              <a:t>5:40–6:30   ·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1248" y="566928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25296" y="548640"/>
            <a:ext cx="101251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059669"/>
                </a:solidFill>
                <a:latin typeface="Calibri"/>
              </a:rPr>
              <a:t>06 · 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3268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El ciclo completo funciona de punta a punta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27048"/>
            <a:ext cx="1143000" cy="457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65960"/>
            <a:ext cx="5623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 b="1">
                <a:solidFill>
                  <a:srgbClr val="0F172A"/>
                </a:solidFill>
                <a:latin typeface="Calibri"/>
              </a:rPr>
              <a:t>E1–E9 con evidencia visual; </a:t>
            </a:r>
            <a:r>
              <a:rPr sz="1600" b="0">
                <a:solidFill>
                  <a:srgbClr val="475569"/>
                </a:solidFill>
                <a:latin typeface="Calibri"/>
              </a:rPr>
              <a:t>el comportamiento observado coincidió con el esperado.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743200"/>
            <a:ext cx="5394960" cy="1234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71216"/>
            <a:ext cx="49377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Scoring automático</a:t>
            </a:r>
            <a:r>
              <a:rPr sz="1500" b="1">
                <a:solidFill>
                  <a:srgbClr val="0F172A"/>
                </a:solidFill>
                <a:latin typeface="Calibri"/>
              </a:rPr>
              <a:t>     HOT ≥ 70   ·   WARM ≥ 40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Prioriza qué leads reciben propuesta, por presupuesto, urgencia y servicio.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160520"/>
            <a:ext cx="5394960" cy="16002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4160520"/>
            <a:ext cx="91440" cy="1600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315968"/>
            <a:ext cx="4983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Aceptación atómica  →  sin doble facturación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UPDATE condicional + RETURNING. </a:t>
            </a:r>
            <a:r>
              <a:rPr sz="1300" b="0">
                <a:solidFill>
                  <a:srgbClr val="475569"/>
                </a:solidFill>
                <a:latin typeface="Calibri"/>
              </a:rPr>
              <a:t>Ante doble clic o dos pestañas, solo la primera factura; la segunda afecta 0 filas.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88545" y="1929384"/>
            <a:ext cx="2945148" cy="2404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121" y="1965960"/>
            <a:ext cx="2871996" cy="2331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0" y="4352543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Tablero interno en tiempo real (Supabase Realtime)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8957" y="4581144"/>
            <a:ext cx="1724325" cy="1399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DF factur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533" y="4617720"/>
            <a:ext cx="1651173" cy="1325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83680" y="599846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Calibri"/>
              </a:rPr>
              <a:t>Factura PDF generada automáticamente (HTML → Gotenberg)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6327648"/>
            <a:ext cx="10509199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6419088"/>
            <a:ext cx="52545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RESULTADOS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4927" y="6419088"/>
            <a:ext cx="6305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059669"/>
                </a:solidFill>
                <a:latin typeface="Calibri"/>
              </a:rPr>
              <a:t>●  </a:t>
            </a:r>
            <a:r>
              <a:rPr sz="950" b="1">
                <a:solidFill>
                  <a:srgbClr val="0F172A"/>
                </a:solidFill>
                <a:latin typeface="Calibri"/>
              </a:rPr>
              <a:t>Tobías Rivas   ·   </a:t>
            </a:r>
            <a:r>
              <a:rPr sz="950" b="0">
                <a:solidFill>
                  <a:srgbClr val="475569"/>
                </a:solidFill>
                <a:latin typeface="Calibri"/>
              </a:rPr>
              <a:t>6:30–8:00   · 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1248" y="566928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25296" y="548640"/>
            <a:ext cx="101251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4F46E5"/>
                </a:solidFill>
                <a:latin typeface="Calibri"/>
              </a:rPr>
              <a:t>07 · DISCUSIÓN Y 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3268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Sí: se automatizó de extremo a extremo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27048"/>
            <a:ext cx="1143000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11680"/>
            <a:ext cx="64008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14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 b="1">
                <a:solidFill>
                  <a:srgbClr val="0F172A"/>
                </a:solidFill>
                <a:latin typeface="Calibri"/>
              </a:rPr>
              <a:t>Respuesta a la pregunta: </a:t>
            </a:r>
            <a:r>
              <a:rPr sz="1600" b="0">
                <a:solidFill>
                  <a:srgbClr val="475569"/>
                </a:solidFill>
                <a:latin typeface="Calibri"/>
              </a:rPr>
              <a:t>el ciclo comercial puede automatizarse con eventos de bajo código.</a:t>
            </a:r>
          </a:p>
          <a:p>
            <a:pPr algn="l">
              <a:lnSpc>
                <a:spcPct val="103000"/>
              </a:lnSpc>
              <a:spcAft>
                <a:spcPts val="14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 b="1">
                <a:solidFill>
                  <a:srgbClr val="0F172A"/>
                </a:solidFill>
                <a:latin typeface="Calibri"/>
              </a:rPr>
              <a:t>Objetivos: </a:t>
            </a:r>
            <a:r>
              <a:rPr sz="1600" b="0">
                <a:solidFill>
                  <a:srgbClr val="475569"/>
                </a:solidFill>
                <a:latin typeface="Calibri"/>
              </a:rPr>
              <a:t>se cumplen los cinco (captación, aceptación, facturación, centralización, validación).</a:t>
            </a:r>
          </a:p>
          <a:p>
            <a:pPr algn="l">
              <a:lnSpc>
                <a:spcPct val="103000"/>
              </a:lnSpc>
              <a:spcAft>
                <a:spcPts val="14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 b="1">
                <a:solidFill>
                  <a:srgbClr val="0F172A"/>
                </a:solidFill>
                <a:latin typeface="Calibri"/>
              </a:rPr>
              <a:t>Aporte original: </a:t>
            </a:r>
            <a:r>
              <a:rPr sz="1600" b="0">
                <a:solidFill>
                  <a:srgbClr val="475569"/>
                </a:solidFill>
                <a:latin typeface="Calibri"/>
              </a:rPr>
              <a:t>pipeline auto-alojable, de bajo costo y con propiedad del dato — construir &gt; configurar.</a:t>
            </a:r>
          </a:p>
          <a:p>
            <a:pPr algn="l">
              <a:lnSpc>
                <a:spcPct val="103000"/>
              </a:lnSpc>
              <a:spcAft>
                <a:spcPts val="1400"/>
              </a:spcAft>
            </a:pPr>
            <a:r>
              <a:rPr sz="1600" b="1">
                <a:solidFill>
                  <a:srgbClr val="4F46E5"/>
                </a:solidFill>
                <a:latin typeface="Calibri"/>
              </a:rPr>
              <a:t>▸  </a:t>
            </a:r>
            <a:r>
              <a:rPr sz="1600" b="1">
                <a:solidFill>
                  <a:srgbClr val="0F172A"/>
                </a:solidFill>
                <a:latin typeface="Calibri"/>
              </a:rPr>
              <a:t>Validez interna verificable </a:t>
            </a:r>
            <a:r>
              <a:rPr sz="1600" b="0">
                <a:solidFill>
                  <a:srgbClr val="475569"/>
                </a:solidFill>
                <a:latin typeface="Calibri"/>
              </a:rPr>
              <a:t>componente a componente: cada webhook, tabla y regla se audita en el código.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194560"/>
            <a:ext cx="3703320" cy="28346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2194560"/>
            <a:ext cx="91440" cy="28346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487168"/>
            <a:ext cx="3200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PRECISOS CON EL ALCANCE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Queda sugerido, pero no demostrado,</a:t>
            </a:r>
            <a:r>
              <a:rPr sz="1500" b="0">
                <a:solidFill>
                  <a:srgbClr val="475569"/>
                </a:solidFill>
                <a:latin typeface="Calibri"/>
              </a:rPr>
              <a:t> que mejore los indicadores comerciales reales de un freelance.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475569"/>
                </a:solidFill>
                <a:latin typeface="Calibri"/>
              </a:rPr>
              <a:t>Eso exigiría medir con usuarios en producción.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6327648"/>
            <a:ext cx="10509199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6419088"/>
            <a:ext cx="52545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DISCUSIÓN Y CONCLUSIONES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4927" y="6419088"/>
            <a:ext cx="6305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4F46E5"/>
                </a:solidFill>
                <a:latin typeface="Calibri"/>
              </a:rPr>
              <a:t>●  </a:t>
            </a:r>
            <a:r>
              <a:rPr sz="950" b="1">
                <a:solidFill>
                  <a:srgbClr val="0F172A"/>
                </a:solidFill>
                <a:latin typeface="Calibri"/>
              </a:rPr>
              <a:t>Mateo Morgui   ·   </a:t>
            </a:r>
            <a:r>
              <a:rPr sz="950" b="0">
                <a:solidFill>
                  <a:srgbClr val="475569"/>
                </a:solidFill>
                <a:latin typeface="Calibri"/>
              </a:rPr>
              <a:t>8:00–9:00   ·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1248" y="566928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25296" y="548640"/>
            <a:ext cx="101251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059669"/>
                </a:solidFill>
                <a:latin typeface="Calibri"/>
              </a:rPr>
              <a:t>08 · LIMITACIONES Y TRABAJO FUTURO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3268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Lo que falta y hacia dónde sigue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27048"/>
            <a:ext cx="1143000" cy="457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011680"/>
            <a:ext cx="5025999" cy="3977639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286000"/>
            <a:ext cx="4431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>
                <a:solidFill>
                  <a:srgbClr val="475569"/>
                </a:solidFill>
                <a:latin typeface="Calibri"/>
              </a:rPr>
              <a:t>LIMITACIONES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788920"/>
            <a:ext cx="4431639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1300"/>
              </a:spcAft>
            </a:pPr>
            <a:r>
              <a:rPr sz="1500" b="1">
                <a:solidFill>
                  <a:srgbClr val="94A3B8"/>
                </a:solidFill>
                <a:latin typeface="Calibri"/>
              </a:rPr>
              <a:t>—  </a:t>
            </a:r>
            <a:r>
              <a:rPr sz="1500" b="1">
                <a:solidFill>
                  <a:srgbClr val="0F172A"/>
                </a:solidFill>
                <a:latin typeface="Calibri"/>
              </a:rPr>
              <a:t>Scoring por criterio experto </a:t>
            </a:r>
            <a:r>
              <a:rPr sz="1500" b="0">
                <a:solidFill>
                  <a:srgbClr val="475569"/>
                </a:solidFill>
                <a:latin typeface="Calibri"/>
              </a:rPr>
              <a:t>— válido de diseño, no empírico.</a:t>
            </a:r>
          </a:p>
          <a:p>
            <a:pPr algn="l">
              <a:lnSpc>
                <a:spcPct val="103000"/>
              </a:lnSpc>
              <a:spcAft>
                <a:spcPts val="1300"/>
              </a:spcAft>
            </a:pPr>
            <a:r>
              <a:rPr sz="1500" b="1">
                <a:solidFill>
                  <a:srgbClr val="94A3B8"/>
                </a:solidFill>
                <a:latin typeface="Calibri"/>
              </a:rPr>
              <a:t>—  </a:t>
            </a:r>
            <a:r>
              <a:rPr sz="1500" b="1">
                <a:solidFill>
                  <a:srgbClr val="0F172A"/>
                </a:solidFill>
                <a:latin typeface="Calibri"/>
              </a:rPr>
              <a:t>Despliegue local </a:t>
            </a:r>
            <a:r>
              <a:rPr sz="1500" b="0">
                <a:solidFill>
                  <a:srgbClr val="475569"/>
                </a:solidFill>
                <a:latin typeface="Calibri"/>
              </a:rPr>
              <a:t>sin URL pública.</a:t>
            </a:r>
          </a:p>
          <a:p>
            <a:pPr algn="l">
              <a:lnSpc>
                <a:spcPct val="103000"/>
              </a:lnSpc>
              <a:spcAft>
                <a:spcPts val="1300"/>
              </a:spcAft>
            </a:pPr>
            <a:r>
              <a:rPr sz="1500" b="1">
                <a:solidFill>
                  <a:srgbClr val="94A3B8"/>
                </a:solidFill>
                <a:latin typeface="Calibri"/>
              </a:rPr>
              <a:t>—  </a:t>
            </a:r>
            <a:r>
              <a:rPr sz="1500" b="1">
                <a:solidFill>
                  <a:srgbClr val="0F172A"/>
                </a:solidFill>
                <a:latin typeface="Calibri"/>
              </a:rPr>
              <a:t>Pago simulado </a:t>
            </a:r>
            <a:r>
              <a:rPr sz="1500" b="0">
                <a:solidFill>
                  <a:srgbClr val="475569"/>
                </a:solidFill>
                <a:latin typeface="Calibri"/>
              </a:rPr>
              <a:t>(idempotente).</a:t>
            </a:r>
          </a:p>
          <a:p>
            <a:pPr algn="l">
              <a:lnSpc>
                <a:spcPct val="103000"/>
              </a:lnSpc>
              <a:spcAft>
                <a:spcPts val="1300"/>
              </a:spcAft>
            </a:pPr>
            <a:r>
              <a:rPr sz="1500" b="1">
                <a:solidFill>
                  <a:srgbClr val="94A3B8"/>
                </a:solidFill>
                <a:latin typeface="Calibri"/>
              </a:rPr>
              <a:t>—  </a:t>
            </a:r>
            <a:r>
              <a:rPr sz="1500" b="1">
                <a:solidFill>
                  <a:srgbClr val="0F172A"/>
                </a:solidFill>
                <a:latin typeface="Calibri"/>
              </a:rPr>
              <a:t>Auth productiva </a:t>
            </a:r>
            <a:r>
              <a:rPr sz="1500" b="0">
                <a:solidFill>
                  <a:srgbClr val="475569"/>
                </a:solidFill>
                <a:latin typeface="Calibri"/>
              </a:rPr>
              <a:t>pendiente de verificar.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2011680"/>
            <a:ext cx="5025999" cy="3977639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4447" y="2011680"/>
            <a:ext cx="91440" cy="3977639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487" y="2286000"/>
            <a:ext cx="4431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>
                <a:solidFill>
                  <a:srgbClr val="059669"/>
                </a:solidFill>
                <a:latin typeface="Calibri"/>
              </a:rPr>
              <a:t>TRABAJO FUTURO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487" y="2788920"/>
            <a:ext cx="4431639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13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▸  </a:t>
            </a:r>
            <a:r>
              <a:rPr sz="1500" b="1">
                <a:solidFill>
                  <a:srgbClr val="0F172A"/>
                </a:solidFill>
                <a:latin typeface="Calibri"/>
              </a:rPr>
              <a:t>Calibrar el scoring </a:t>
            </a:r>
            <a:r>
              <a:rPr sz="1500" b="0">
                <a:solidFill>
                  <a:srgbClr val="475569"/>
                </a:solidFill>
                <a:latin typeface="Calibri"/>
              </a:rPr>
              <a:t>con datos reales de conversión.</a:t>
            </a:r>
          </a:p>
          <a:p>
            <a:pPr algn="l">
              <a:lnSpc>
                <a:spcPct val="103000"/>
              </a:lnSpc>
              <a:spcAft>
                <a:spcPts val="13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▸  </a:t>
            </a:r>
            <a:r>
              <a:rPr sz="1500" b="1">
                <a:solidFill>
                  <a:srgbClr val="0F172A"/>
                </a:solidFill>
                <a:latin typeface="Calibri"/>
              </a:rPr>
              <a:t>Exponer n8n tras HTTPS </a:t>
            </a:r>
            <a:r>
              <a:rPr sz="1500" b="0">
                <a:solidFill>
                  <a:srgbClr val="475569"/>
                </a:solidFill>
                <a:latin typeface="Calibri"/>
              </a:rPr>
              <a:t>con URL estable (nube / túnel).</a:t>
            </a:r>
          </a:p>
          <a:p>
            <a:pPr algn="l">
              <a:lnSpc>
                <a:spcPct val="103000"/>
              </a:lnSpc>
              <a:spcAft>
                <a:spcPts val="13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▸  </a:t>
            </a:r>
            <a:r>
              <a:rPr sz="1500" b="1">
                <a:solidFill>
                  <a:srgbClr val="0F172A"/>
                </a:solidFill>
                <a:latin typeface="Calibri"/>
              </a:rPr>
              <a:t>Integrar pago real </a:t>
            </a:r>
            <a:r>
              <a:rPr sz="1500" b="0">
                <a:solidFill>
                  <a:srgbClr val="475569"/>
                </a:solidFill>
                <a:latin typeface="Calibri"/>
              </a:rPr>
              <a:t>(pasarela).</a:t>
            </a:r>
          </a:p>
          <a:p>
            <a:pPr algn="l">
              <a:lnSpc>
                <a:spcPct val="103000"/>
              </a:lnSpc>
              <a:spcAft>
                <a:spcPts val="13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▸  </a:t>
            </a:r>
            <a:r>
              <a:rPr sz="1500" b="1">
                <a:solidFill>
                  <a:srgbClr val="0F172A"/>
                </a:solidFill>
                <a:latin typeface="Calibri"/>
              </a:rPr>
              <a:t>Completar y verificar </a:t>
            </a:r>
            <a:r>
              <a:rPr sz="1500" b="0">
                <a:solidFill>
                  <a:srgbClr val="475569"/>
                </a:solidFill>
                <a:latin typeface="Calibri"/>
              </a:rPr>
              <a:t>la seguridad en producción.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6327648"/>
            <a:ext cx="10509199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6419088"/>
            <a:ext cx="52545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LIMITACIONES Y TRABAJO FUTURO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4927" y="6419088"/>
            <a:ext cx="6305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059669"/>
                </a:solidFill>
                <a:latin typeface="Calibri"/>
              </a:rPr>
              <a:t>●  </a:t>
            </a:r>
            <a:r>
              <a:rPr sz="950" b="1">
                <a:solidFill>
                  <a:srgbClr val="0F172A"/>
                </a:solidFill>
                <a:latin typeface="Calibri"/>
              </a:rPr>
              <a:t>Tobías Rivas   ·   </a:t>
            </a:r>
            <a:r>
              <a:rPr sz="950" b="0">
                <a:solidFill>
                  <a:srgbClr val="475569"/>
                </a:solidFill>
                <a:latin typeface="Calibri"/>
              </a:rPr>
              <a:t>9:00–10:00   · 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331720"/>
            <a:ext cx="2011680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560320"/>
            <a:ext cx="1050919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794760"/>
            <a:ext cx="105091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Automatización de un sistema de tickets para freelancers con n8n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709160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Mateo Morgui   ·   Tobías Rivas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Director: Alberto Cortez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github.com/Boit-6/Tesis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1248" y="566928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25296" y="548640"/>
            <a:ext cx="101251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>
                <a:solidFill>
                  <a:srgbClr val="E11D48"/>
                </a:solidFill>
                <a:latin typeface="Calibri"/>
              </a:rPr>
              <a:t>ANEXO · PARA PREGUNTAS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32688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Flujo completo en n8n — 11 webhooks · 128 nodos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27048"/>
            <a:ext cx="1143000" cy="457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31547" y="1746504"/>
            <a:ext cx="2528600" cy="4507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123" y="1783080"/>
            <a:ext cx="2455448" cy="44348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41248" y="6327648"/>
            <a:ext cx="10509199" cy="1280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6419088"/>
            <a:ext cx="52545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ANEXO · FLUJO 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4927" y="6419088"/>
            <a:ext cx="6305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●  </a:t>
            </a:r>
            <a:r>
              <a:rPr sz="950" b="1">
                <a:solidFill>
                  <a:srgbClr val="0F172A"/>
                </a:solidFill>
                <a:latin typeface="Calibri"/>
              </a:rPr>
              <a:t>Backup   ·   </a:t>
            </a:r>
            <a:r>
              <a:rPr sz="950" b="0">
                <a:solidFill>
                  <a:srgbClr val="475569"/>
                </a:solidFill>
                <a:latin typeface="Calibri"/>
              </a:rPr>
              <a:t>Q&amp;A   ·   11/10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